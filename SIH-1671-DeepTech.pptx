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0066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unkarthikeyan06@outlook.com" userId="e222479d616d08bb" providerId="LiveId" clId="{82A1CDAF-F39C-4BD1-B637-C3BF1933139C}"/>
    <pc:docChg chg="undo custSel modSld sldOrd">
      <pc:chgData name="tharunkarthikeyan06@outlook.com" userId="e222479d616d08bb" providerId="LiveId" clId="{82A1CDAF-F39C-4BD1-B637-C3BF1933139C}" dt="2025-08-30T19:52:39.612" v="5" actId="1076"/>
      <pc:docMkLst>
        <pc:docMk/>
      </pc:docMkLst>
      <pc:sldChg chg="modSp mod">
        <pc:chgData name="tharunkarthikeyan06@outlook.com" userId="e222479d616d08bb" providerId="LiveId" clId="{82A1CDAF-F39C-4BD1-B637-C3BF1933139C}" dt="2025-08-30T19:52:39.612" v="5" actId="1076"/>
        <pc:sldMkLst>
          <pc:docMk/>
          <pc:sldMk cId="0" sldId="290"/>
        </pc:sldMkLst>
        <pc:picChg chg="mod">
          <ac:chgData name="tharunkarthikeyan06@outlook.com" userId="e222479d616d08bb" providerId="LiveId" clId="{82A1CDAF-F39C-4BD1-B637-C3BF1933139C}" dt="2025-08-30T19:52:39.612" v="5" actId="1076"/>
          <ac:picMkLst>
            <pc:docMk/>
            <pc:sldMk cId="0" sldId="290"/>
            <ac:picMk id="9" creationId="{A6FAEB6F-423F-D94D-20F8-D173A6E5FB1E}"/>
          </ac:picMkLst>
        </pc:picChg>
      </pc:sldChg>
      <pc:sldChg chg="ord">
        <pc:chgData name="tharunkarthikeyan06@outlook.com" userId="e222479d616d08bb" providerId="LiveId" clId="{82A1CDAF-F39C-4BD1-B637-C3BF1933139C}" dt="2025-08-30T19:52:38.981" v="4" actId="20578"/>
        <pc:sldMkLst>
          <pc:docMk/>
          <pc:sldMk cId="3753387913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@abdul_qadir_/enhancing-face-liveness-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7000"/>
          </a:blip>
          <a:srcRect r="59916"/>
          <a:stretch/>
        </p:blipFill>
        <p:spPr>
          <a:xfrm>
            <a:off x="8566703" y="3261872"/>
            <a:ext cx="2635033" cy="2818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23548" y="297406"/>
            <a:ext cx="8534400" cy="1752600"/>
          </a:xfrm>
        </p:spPr>
        <p:txBody>
          <a:bodyPr/>
          <a:lstStyle/>
          <a:p>
            <a:endParaRPr lang="en-US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&amp; Team Details </a:t>
            </a:r>
            <a:endParaRPr lang="en-IN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70832" y="-439255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rgbClr val="0000CC"/>
                </a:solidFill>
                <a:latin typeface="Times" panose="02020603050405020304" pitchFamily="18" charset="0"/>
              </a:rPr>
              <a:t>SMART INDIA HACKATHON 2024</a:t>
            </a:r>
            <a:endParaRPr lang="en-IN" sz="4000" b="1" dirty="0">
              <a:solidFill>
                <a:srgbClr val="0000CC"/>
              </a:solidFill>
              <a:latin typeface="Times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0264" y="2035234"/>
            <a:ext cx="10110355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			-  </a:t>
            </a:r>
            <a:r>
              <a:rPr lang="en-US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SIH1671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		- </a:t>
            </a:r>
            <a:r>
              <a:rPr lang="en-US" sz="2000" b="1" i="0" u="none" strike="noStrike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 a functional solution that demonstrates   								   the face liveness detection</a:t>
            </a:r>
            <a:endParaRPr lang="en-US" sz="20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							-  </a:t>
            </a:r>
            <a:r>
              <a:rPr lang="en-IN" sz="2000" b="1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sz="20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					-  </a:t>
            </a:r>
            <a:r>
              <a:rPr lang="en-US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						-  </a:t>
            </a:r>
            <a:r>
              <a:rPr lang="en-US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13378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					-  </a:t>
            </a:r>
            <a:r>
              <a:rPr lang="en-US" sz="20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DeepTech</a:t>
            </a:r>
            <a:endParaRPr lang="en-IN" sz="20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B3BA96-EA79-EDBE-254A-F34DF8C9E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19" y="-274540"/>
            <a:ext cx="1860906" cy="18609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373D46-41E5-CE74-0379-483019C97C65}"/>
              </a:ext>
            </a:extLst>
          </p:cNvPr>
          <p:cNvSpPr txBox="1"/>
          <p:nvPr/>
        </p:nvSpPr>
        <p:spPr>
          <a:xfrm>
            <a:off x="2403497" y="593046"/>
            <a:ext cx="7028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i="1" dirty="0">
                <a:solidFill>
                  <a:srgbClr val="0000CC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AI-Powered Robust Face Liveness Detection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75CB12-7521-62C4-F5E9-E7AB3980AFB3}"/>
              </a:ext>
            </a:extLst>
          </p:cNvPr>
          <p:cNvSpPr txBox="1"/>
          <p:nvPr/>
        </p:nvSpPr>
        <p:spPr>
          <a:xfrm>
            <a:off x="569020" y="1461012"/>
            <a:ext cx="534874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	An AI-powered system for real-time face liveness detection using texture analysis, motion detection and Facial Parameters. A CNN trained on diverse data distinguishes live faces from spoof attempts by analyzing skin textures, facial movements and 3D contours.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	Integrating texture, motion and depth cues, the system effectively counters spoofing methods, ensuring reliable face liveness detection.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	The multi-cue approach enhances security, making the system robust against sophisticated spoofing attempts and adaptable to emerging threats through continuous learning.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910FAE-4D77-9E5B-8A09-B36C0EFD830E}"/>
              </a:ext>
            </a:extLst>
          </p:cNvPr>
          <p:cNvSpPr txBox="1"/>
          <p:nvPr/>
        </p:nvSpPr>
        <p:spPr>
          <a:xfrm>
            <a:off x="569020" y="1140651"/>
            <a:ext cx="5220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CC"/>
                </a:solidFill>
              </a:rPr>
              <a:t>Proposed Solution :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8E7B47-899D-EBB4-63BA-FF8754CEB114}"/>
              </a:ext>
            </a:extLst>
          </p:cNvPr>
          <p:cNvSpPr txBox="1"/>
          <p:nvPr/>
        </p:nvSpPr>
        <p:spPr>
          <a:xfrm>
            <a:off x="569020" y="3276806"/>
            <a:ext cx="5220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CC"/>
                </a:solidFill>
              </a:rPr>
              <a:t>Problem Addressed :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FF2041-517F-5C4E-02C0-135B17DFE475}"/>
              </a:ext>
            </a:extLst>
          </p:cNvPr>
          <p:cNvSpPr txBox="1"/>
          <p:nvPr/>
        </p:nvSpPr>
        <p:spPr>
          <a:xfrm>
            <a:off x="569020" y="4648496"/>
            <a:ext cx="522092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Innovation and uniqueness of the solution :</a:t>
            </a:r>
            <a:endParaRPr lang="en-IN" sz="1700" dirty="0">
              <a:solidFill>
                <a:srgbClr val="0000CC"/>
              </a:solidFill>
            </a:endParaRPr>
          </a:p>
        </p:txBody>
      </p:sp>
      <p:sp>
        <p:nvSpPr>
          <p:cNvPr id="24" name="Footer Placeholder 6">
            <a:extLst>
              <a:ext uri="{FF2B5EF4-FFF2-40B4-BE49-F238E27FC236}">
                <a16:creationId xmlns:a16="http://schemas.microsoft.com/office/drawing/2014/main" id="{241028A5-D00A-8171-ACB9-C4BAC85B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8794" y="6413754"/>
            <a:ext cx="3854410" cy="365125"/>
          </a:xfrm>
        </p:spPr>
        <p:txBody>
          <a:bodyPr/>
          <a:lstStyle/>
          <a:p>
            <a:pPr algn="just"/>
            <a:r>
              <a:rPr lang="en-US" sz="1400" i="1" dirty="0">
                <a:solidFill>
                  <a:schemeClr val="bg1"/>
                </a:solidFill>
              </a:rPr>
              <a:t>AI-Powered Robust Face Liveness Detection System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BC6DB2B-A13E-AC80-328E-4D251D48B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330" y="-183110"/>
            <a:ext cx="12270658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26" name="AutoShape 6" descr="Enhancing Face Liveness Detection in Image-Based Authentication Systems |  by Abdul Qadir | Medium">
            <a:extLst>
              <a:ext uri="{FF2B5EF4-FFF2-40B4-BE49-F238E27FC236}">
                <a16:creationId xmlns:a16="http://schemas.microsoft.com/office/drawing/2014/main" id="{D76318C9-65A3-FF45-4F7D-CEA85B2C78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96696" y="5006975"/>
            <a:ext cx="121487" cy="12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AutoShape 10" descr="Face detection concepts | ML Kit | Google for Developers">
            <a:extLst>
              <a:ext uri="{FF2B5EF4-FFF2-40B4-BE49-F238E27FC236}">
                <a16:creationId xmlns:a16="http://schemas.microsoft.com/office/drawing/2014/main" id="{3D96C207-D121-0A7F-E9CA-6ECC7D5791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F3033-DA89-4F02-969E-8EEF98B9B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7770" y="1527266"/>
            <a:ext cx="2928535" cy="220598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5371C2D-67E6-9B53-6F42-BA1EE3582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364" y="3894365"/>
            <a:ext cx="5701436" cy="2103175"/>
          </a:xfrm>
          <a:prstGeom prst="rect">
            <a:avLst/>
          </a:prstGeom>
        </p:spPr>
      </p:pic>
      <p:pic>
        <p:nvPicPr>
          <p:cNvPr id="1038" name="Picture 14" descr="Liveness Detection with OpenCV - PyImageSearch">
            <a:extLst>
              <a:ext uri="{FF2B5EF4-FFF2-40B4-BE49-F238E27FC236}">
                <a16:creationId xmlns:a16="http://schemas.microsoft.com/office/drawing/2014/main" id="{028C0ECD-53D9-60F0-2302-96EE519573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0" r="-16090"/>
          <a:stretch/>
        </p:blipFill>
        <p:spPr bwMode="auto">
          <a:xfrm>
            <a:off x="9127608" y="1520254"/>
            <a:ext cx="3257432" cy="21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6413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8794" y="6413754"/>
            <a:ext cx="3854410" cy="365125"/>
          </a:xfrm>
        </p:spPr>
        <p:txBody>
          <a:bodyPr/>
          <a:lstStyle/>
          <a:p>
            <a:pPr algn="just"/>
            <a:r>
              <a:rPr lang="en-US" sz="1400" i="1" dirty="0">
                <a:solidFill>
                  <a:schemeClr val="bg1"/>
                </a:solidFill>
              </a:rPr>
              <a:t>AI-Powered Robust Face Liveness Detection System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6C04583-D19B-7105-EB48-DE56C70E4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19" y="-274540"/>
            <a:ext cx="1860906" cy="1860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FAEB6F-423F-D94D-20F8-D173A6E5F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87219"/>
            <a:ext cx="9044192" cy="51031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B1D428-1DC1-AB98-5C08-99C86D2D6CE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371" t="1410" r="4507" b="3138"/>
          <a:stretch/>
        </p:blipFill>
        <p:spPr>
          <a:xfrm>
            <a:off x="9117981" y="1374626"/>
            <a:ext cx="2903300" cy="452833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319010FB-CE0D-F974-60CC-2B257507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8794" y="6413754"/>
            <a:ext cx="3854410" cy="365125"/>
          </a:xfrm>
        </p:spPr>
        <p:txBody>
          <a:bodyPr/>
          <a:lstStyle/>
          <a:p>
            <a:pPr algn="just"/>
            <a:r>
              <a:rPr lang="en-US" sz="1400" i="1" dirty="0">
                <a:solidFill>
                  <a:schemeClr val="bg1"/>
                </a:solidFill>
              </a:rPr>
              <a:t>AI-Powered Robust Face Liveness Detection 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1EDEA9-AF12-5E4C-03E6-0DBD27AEE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19" y="-367136"/>
            <a:ext cx="1860906" cy="18609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1EE79B-EB8F-0E22-084E-D49B58C7D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02" y="799109"/>
            <a:ext cx="9999120" cy="5555652"/>
          </a:xfrm>
          <a:prstGeom prst="rect">
            <a:avLst/>
          </a:prstGeom>
        </p:spPr>
      </p:pic>
      <p:pic>
        <p:nvPicPr>
          <p:cNvPr id="8" name="Google Shape;9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99120" y="81377"/>
            <a:ext cx="2051366" cy="1049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13754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E6EE39-9BAF-846F-A8F6-81D487539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19" y="-274540"/>
            <a:ext cx="1860906" cy="1860906"/>
          </a:xfrm>
          <a:prstGeom prst="rect">
            <a:avLst/>
          </a:prstGeom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68CC9C13-287E-25FD-1087-1E61C318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8794" y="6413754"/>
            <a:ext cx="3854410" cy="365125"/>
          </a:xfrm>
        </p:spPr>
        <p:txBody>
          <a:bodyPr/>
          <a:lstStyle/>
          <a:p>
            <a:pPr algn="just"/>
            <a:r>
              <a:rPr lang="en-US" sz="1400" i="1" dirty="0">
                <a:solidFill>
                  <a:schemeClr val="bg1"/>
                </a:solidFill>
              </a:rPr>
              <a:t>AI-Powered Robust Face Liveness Detection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2DA214-6A94-E709-2884-AC9F10F019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12" t="2040" r="48384" b="3325"/>
          <a:stretch/>
        </p:blipFill>
        <p:spPr>
          <a:xfrm>
            <a:off x="1268363" y="938616"/>
            <a:ext cx="2166081" cy="51402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56E130-0D7B-86C5-A711-C215D6A0C2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629" t="2040" r="4770" b="3325"/>
          <a:stretch/>
        </p:blipFill>
        <p:spPr>
          <a:xfrm>
            <a:off x="8918693" y="977807"/>
            <a:ext cx="2246575" cy="51402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D3DD9B-E9F7-E61D-C7A1-8BB83046B9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04" t="1121"/>
          <a:stretch/>
        </p:blipFill>
        <p:spPr>
          <a:xfrm>
            <a:off x="3571232" y="1332108"/>
            <a:ext cx="5226965" cy="4778024"/>
          </a:xfrm>
          <a:prstGeom prst="rect">
            <a:avLst/>
          </a:prstGeom>
        </p:spPr>
      </p:pic>
      <p:pic>
        <p:nvPicPr>
          <p:cNvPr id="8" name="Google Shape;9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31368" y="53993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1149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1B7505-150C-4D49-4857-CF3CF9A82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19" y="-274540"/>
            <a:ext cx="1860906" cy="1860906"/>
          </a:xfrm>
          <a:prstGeom prst="rect">
            <a:avLst/>
          </a:prstGeom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2078DA92-BF4C-E15E-F7A8-BB8AD39A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8794" y="6413754"/>
            <a:ext cx="3854410" cy="365125"/>
          </a:xfrm>
        </p:spPr>
        <p:txBody>
          <a:bodyPr/>
          <a:lstStyle/>
          <a:p>
            <a:pPr algn="just"/>
            <a:r>
              <a:rPr lang="en-US" sz="1400" i="1" dirty="0">
                <a:solidFill>
                  <a:schemeClr val="bg1"/>
                </a:solidFill>
              </a:rPr>
              <a:t>AI-Powered Robust Face Liveness Detection System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B5A14A1-655B-9963-B6B2-0C692D966EE8}"/>
              </a:ext>
            </a:extLst>
          </p:cNvPr>
          <p:cNvGrpSpPr/>
          <p:nvPr/>
        </p:nvGrpSpPr>
        <p:grpSpPr>
          <a:xfrm>
            <a:off x="650053" y="1380859"/>
            <a:ext cx="12191999" cy="4096281"/>
            <a:chOff x="650053" y="1380859"/>
            <a:chExt cx="12191999" cy="4096281"/>
          </a:xfrm>
        </p:grpSpPr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24B70B98-5F4D-8B64-B6EA-BC6ADDC53B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5365" y="2888834"/>
              <a:ext cx="8840565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000" b="1" i="0" dirty="0">
                  <a:solidFill>
                    <a:srgbClr val="002060"/>
                  </a:solidFill>
                  <a:effectLst/>
                  <a:latin typeface="-apple-system"/>
                </a:rPr>
                <a:t>3.   </a:t>
              </a:r>
              <a:r>
                <a:rPr lang="en-US" sz="2000" b="1" i="0" dirty="0">
                  <a:solidFill>
                    <a:srgbClr val="002060"/>
                  </a:solidFill>
                  <a:effectLst/>
                  <a:highlight>
                    <a:srgbClr val="00FFFF"/>
                  </a:highlight>
                  <a:latin typeface="-apple-system"/>
                </a:rPr>
                <a:t>Reference of Face Liveness Detection using Depth Map Prediction</a:t>
              </a:r>
            </a:p>
            <a:p>
              <a:pPr marR="0" lvl="0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  <a:defRPr/>
              </a:pPr>
              <a:r>
                <a:rPr lang="en-US" sz="2000" dirty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     </a:t>
              </a:r>
              <a:r>
                <a:rPr lang="en-US" sz="2000" u="sng" noProof="0" dirty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https://github.com/anand498/Face-Liveness-Detection</a:t>
              </a:r>
              <a:endPara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endParaRP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4A9C41F2-9271-F49E-5666-108D5CEC6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013" y="3622572"/>
              <a:ext cx="9384499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vl="1"/>
              <a:r>
                <a:rPr lang="en-IN" sz="2000" b="1" i="0" dirty="0">
                  <a:solidFill>
                    <a:srgbClr val="002060"/>
                  </a:solidFill>
                  <a:effectLst/>
                  <a:latin typeface="-apple-system"/>
                </a:rPr>
                <a:t>4.   </a:t>
              </a:r>
              <a:r>
                <a:rPr lang="en-IN" sz="2000" b="1" i="0" dirty="0">
                  <a:solidFill>
                    <a:srgbClr val="002060"/>
                  </a:solidFill>
                  <a:effectLst/>
                  <a:highlight>
                    <a:srgbClr val="00FFFF"/>
                  </a:highlight>
                  <a:latin typeface="-apple-system"/>
                </a:rPr>
                <a:t>Reference GitHub Repository of Face Liveness Detection (</a:t>
              </a:r>
              <a:r>
                <a:rPr lang="en-IN" sz="2000" b="1" i="0" dirty="0" err="1">
                  <a:solidFill>
                    <a:srgbClr val="002060"/>
                  </a:solidFill>
                  <a:effectLst/>
                  <a:highlight>
                    <a:srgbClr val="00FFFF"/>
                  </a:highlight>
                  <a:latin typeface="-apple-system"/>
                </a:rPr>
                <a:t>CRMNet</a:t>
              </a:r>
              <a:r>
                <a:rPr lang="en-IN" sz="2000" b="1" i="0" dirty="0">
                  <a:solidFill>
                    <a:srgbClr val="002060"/>
                  </a:solidFill>
                  <a:effectLst/>
                  <a:highlight>
                    <a:srgbClr val="00FFFF"/>
                  </a:highlight>
                  <a:latin typeface="-apple-system"/>
                </a:rPr>
                <a:t>)</a:t>
              </a:r>
            </a:p>
            <a:p>
              <a:r>
                <a:rPr lang="en-IN" sz="2000" dirty="0"/>
                <a:t>              </a:t>
              </a:r>
              <a:r>
                <a:rPr lang="en-IN" sz="2000" u="sng" dirty="0">
                  <a:solidFill>
                    <a:srgbClr val="0070C0"/>
                  </a:solidFill>
                </a:rPr>
                <a:t>https://github.com/sakethbachu/Face-Liveness-Detection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IN" sz="2000" b="1" i="0" dirty="0">
                <a:solidFill>
                  <a:srgbClr val="002060"/>
                </a:solidFill>
                <a:effectLst/>
                <a:highlight>
                  <a:srgbClr val="00FFFF"/>
                </a:highlight>
                <a:latin typeface="-apple-system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C42187-8FEF-08E9-9E4A-9B332D39E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985" y="4359358"/>
              <a:ext cx="987086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vl="1"/>
              <a:r>
                <a:rPr lang="en-IN" sz="2000" b="1" i="0" dirty="0">
                  <a:solidFill>
                    <a:srgbClr val="002060"/>
                  </a:solidFill>
                  <a:effectLst/>
                  <a:latin typeface="-apple-system"/>
                </a:rPr>
                <a:t>5.  </a:t>
              </a:r>
              <a:r>
                <a:rPr lang="en-IN" sz="2000" b="1" i="0" dirty="0">
                  <a:solidFill>
                    <a:srgbClr val="002060"/>
                  </a:solidFill>
                  <a:effectLst/>
                  <a:highlight>
                    <a:srgbClr val="00FFFF"/>
                  </a:highlight>
                  <a:latin typeface="-apple-system"/>
                </a:rPr>
                <a:t>Reference of Face Liveliness Image From :</a:t>
              </a:r>
              <a:endParaRPr lang="en-IN" sz="2000" i="0" u="sng" dirty="0">
                <a:solidFill>
                  <a:srgbClr val="0070C0"/>
                </a:solidFill>
                <a:effectLst/>
                <a:latin typeface="-apple-system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C6EE304-F0E8-223C-6BAA-3DEE7C7C900E}"/>
                </a:ext>
              </a:extLst>
            </p:cNvPr>
            <p:cNvGrpSpPr/>
            <p:nvPr/>
          </p:nvGrpSpPr>
          <p:grpSpPr>
            <a:xfrm>
              <a:off x="650053" y="1380859"/>
              <a:ext cx="12191999" cy="1467767"/>
              <a:chOff x="562782" y="1264602"/>
              <a:chExt cx="12191998" cy="1467767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BB2CC3-15E4-FCAA-B65D-5A9DC784A0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2782" y="1621000"/>
                <a:ext cx="1219199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IN" sz="2000" i="0" dirty="0">
                    <a:solidFill>
                      <a:srgbClr val="0070C0"/>
                    </a:solidFill>
                    <a:effectLst/>
                    <a:latin typeface="-apple-system"/>
                  </a:rPr>
                  <a:t>        </a:t>
                </a:r>
                <a:r>
                  <a:rPr lang="en-IN" sz="2000" i="0" u="sng" dirty="0">
                    <a:solidFill>
                      <a:srgbClr val="0070C0"/>
                    </a:solidFill>
                    <a:effectLst/>
                    <a:latin typeface="-apple-system"/>
                  </a:rPr>
                  <a:t>https://ieeexplore.ieee.org/document/8090202/figures#figures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C20BB3F-0892-8B56-1A32-57EE1B53EC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2782" y="2055261"/>
                <a:ext cx="12191998" cy="677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b="1" i="0" dirty="0">
                    <a:solidFill>
                      <a:schemeClr val="tx2"/>
                    </a:solidFill>
                    <a:effectLst/>
                    <a:latin typeface="HelveticaNeue Regular"/>
                  </a:rPr>
                  <a:t>2.    </a:t>
                </a:r>
                <a:r>
                  <a:rPr lang="en-US" b="1" i="0" dirty="0">
                    <a:solidFill>
                      <a:schemeClr val="tx2"/>
                    </a:solidFill>
                    <a:effectLst/>
                    <a:highlight>
                      <a:srgbClr val="00FFFF"/>
                    </a:highlight>
                    <a:latin typeface="HelveticaNeue Regular"/>
                  </a:rPr>
                  <a:t>Deep Feature Extraction for Face Liveness Detection</a:t>
                </a:r>
              </a:p>
              <a:p>
                <a:pPr lvl="1"/>
                <a:r>
                  <a:rPr lang="en-IN" sz="2000" i="0" dirty="0">
                    <a:solidFill>
                      <a:srgbClr val="0070C0"/>
                    </a:solidFill>
                    <a:effectLst/>
                    <a:latin typeface="-apple-system"/>
                  </a:rPr>
                  <a:t>        </a:t>
                </a:r>
                <a:r>
                  <a:rPr lang="en-IN" sz="2000" i="0" u="sng" dirty="0">
                    <a:solidFill>
                      <a:srgbClr val="0070C0"/>
                    </a:solidFill>
                    <a:effectLst/>
                    <a:latin typeface="-apple-system"/>
                  </a:rPr>
                  <a:t>https://ieeexplore.ieee.org/document/8620804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3D9B95-6113-9A5A-F497-F41C0F0F4F0A}"/>
                  </a:ext>
                </a:extLst>
              </p:cNvPr>
              <p:cNvSpPr txBox="1"/>
              <p:nvPr/>
            </p:nvSpPr>
            <p:spPr>
              <a:xfrm>
                <a:off x="1029846" y="1264602"/>
                <a:ext cx="627789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IN" sz="2000" b="1" i="0" dirty="0">
                    <a:solidFill>
                      <a:srgbClr val="002060"/>
                    </a:solidFill>
                    <a:effectLst/>
                    <a:highlight>
                      <a:srgbClr val="00FFFF"/>
                    </a:highlight>
                    <a:latin typeface="-apple-system"/>
                  </a:rPr>
                  <a:t>Reference of Research Papers on IEEE Explore : </a:t>
                </a:r>
                <a:endParaRPr lang="en-IN" sz="2000" dirty="0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23044D6-D58C-95F6-EAA5-49B806C77F0B}"/>
                </a:ext>
              </a:extLst>
            </p:cNvPr>
            <p:cNvSpPr txBox="1"/>
            <p:nvPr/>
          </p:nvSpPr>
          <p:spPr>
            <a:xfrm>
              <a:off x="1071675" y="4769254"/>
              <a:ext cx="763642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IN" sz="2000" i="0" u="sng" dirty="0">
                  <a:solidFill>
                    <a:srgbClr val="0070C0"/>
                  </a:solidFill>
                  <a:effectLst/>
                  <a:latin typeface="-apple-system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https://medium.com/@abdul_qadir_/enhancing-face-liveness-</a:t>
              </a:r>
              <a:r>
                <a:rPr lang="en-IN" sz="2000" i="0" u="sng" dirty="0">
                  <a:solidFill>
                    <a:srgbClr val="0070C0"/>
                  </a:solidFill>
                  <a:effectLst/>
                  <a:latin typeface="-apple-system"/>
                </a:rPr>
                <a:t>                                                  detection-in-image-based-authentication-systems-6083271f8065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9502</TotalTime>
  <Words>349</Words>
  <Application>Microsoft Office PowerPoint</Application>
  <PresentationFormat>Widescreen</PresentationFormat>
  <Paragraphs>50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-apple-system</vt:lpstr>
      <vt:lpstr>Arial</vt:lpstr>
      <vt:lpstr>Calibri</vt:lpstr>
      <vt:lpstr>HelveticaNeue Regular</vt:lpstr>
      <vt:lpstr>Times</vt:lpstr>
      <vt:lpstr>Times New Roman</vt:lpstr>
      <vt:lpstr>TradeGothic</vt:lpstr>
      <vt:lpstr>Wingdings</vt:lpstr>
      <vt:lpstr>Office Theme</vt:lpstr>
      <vt:lpstr>SMART INDIA HACKATHON 2024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tharunkarthikeyan06@outlook.com</cp:lastModifiedBy>
  <cp:revision>159</cp:revision>
  <dcterms:created xsi:type="dcterms:W3CDTF">2013-12-12T18:46:50Z</dcterms:created>
  <dcterms:modified xsi:type="dcterms:W3CDTF">2025-08-30T19:52:48Z</dcterms:modified>
  <cp:category/>
</cp:coreProperties>
</file>